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6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45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35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601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97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41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42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141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744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376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2808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922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9488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72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473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2609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A2D7-8A4F-BD6B-3F4D-960DBA481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F244E-C84F-C6B9-DB1E-73F182307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14BE8-A380-C86A-BFFF-37E7F3029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7DE0F-3620-A345-9502-757087779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0EB83-A1F4-24B4-8CEA-A7E0C33A6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573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08C87-75D2-4107-9247-5D6497616E3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A81CCDB-19B6-4AD9-B4EC-315F9A88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76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09D1-9D35-7B1A-1E4E-BA78D0F6FC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Cluster Analysis &amp; Advanced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A0F0E-D568-4526-53A6-039D46571B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Partitioning, Hierarchical, Probabilistic, and Grid-Based Methods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785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6172-F531-29BB-EC7B-67EBBC6A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Partitioning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8C6DA-F18F-637C-25F6-3BAE5883A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Divides data into 'k' distinct partitions (clusters).</a:t>
            </a:r>
          </a:p>
          <a:p>
            <a:r>
              <a:rPr lang="en-US"/>
              <a:t>• Each partition represents a cluster containing at least one object.</a:t>
            </a:r>
          </a:p>
          <a:p>
            <a:r>
              <a:rPr lang="en-US"/>
              <a:t>• Objects within a cluster are similar; objects in different clusters are dissimilar.</a:t>
            </a:r>
          </a:p>
          <a:p>
            <a:r>
              <a:rPr lang="en-US"/>
              <a:t>• Common algorithms: k-means, k-medoids (PAM), CLARA.</a:t>
            </a:r>
          </a:p>
          <a:p>
            <a:r>
              <a:rPr lang="en-US"/>
              <a:t>• Typically relies on iterative relocation to improve cluster quality.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09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1EC3-8DAD-3E42-93BD-D60B8DA72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Hierarchical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50D7A-7940-635B-1420-E1ACF3F87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Creates a hierarchical decomposition of the given set of data objects.</a:t>
            </a:r>
          </a:p>
          <a:p>
            <a:r>
              <a:rPr lang="en-US"/>
              <a:t>• Represented visually as a tree structure called a dendrogram.</a:t>
            </a:r>
          </a:p>
          <a:p>
            <a:r>
              <a:rPr lang="en-US"/>
              <a:t>• Does not require specifying the number of clusters (k) upfront.</a:t>
            </a:r>
          </a:p>
          <a:p>
            <a:r>
              <a:rPr lang="en-US"/>
              <a:t>• Categorized into two main approaches: Agglomerative and Divisive.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99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FC4B-65FF-DB07-7D05-884263255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Agglomerative vs. Divisive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0543E-E32E-BFC3-0867-06D7B232E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Agglomerative (Bottom-Up):</a:t>
            </a:r>
          </a:p>
          <a:p>
            <a:r>
              <a:rPr lang="en-US"/>
              <a:t>  • Starts with each object in its own separate cluster.</a:t>
            </a:r>
          </a:p>
          <a:p>
            <a:r>
              <a:rPr lang="en-US"/>
              <a:t>  • Iteratively merges the closest clusters until one large cluster remains.</a:t>
            </a:r>
          </a:p>
          <a:p>
            <a:r>
              <a:rPr lang="en-US"/>
              <a:t>Divisive (Top-Down):</a:t>
            </a:r>
          </a:p>
          <a:p>
            <a:r>
              <a:rPr lang="en-US"/>
              <a:t>  • Starts with all objects in a single, massive cluster.</a:t>
            </a:r>
          </a:p>
          <a:p>
            <a:r>
              <a:rPr lang="en-US"/>
              <a:t>  • Iteratively splits clusters into smaller ones until each object is isolated.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428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4574D-BB9A-0600-C3E1-64CA8E9E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Probabilistic Model-Based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9AF91-E271-14CC-9E3A-83B5CA7D7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Assumes data is generated by a mixture of underlying probability distributions.</a:t>
            </a:r>
          </a:p>
          <a:p>
            <a:r>
              <a:rPr lang="en-US"/>
              <a:t>• Optimizes the fit between the given data and some mathematical model.</a:t>
            </a:r>
          </a:p>
          <a:p>
            <a:r>
              <a:rPr lang="en-US"/>
              <a:t>• Gaussian Mixture Models (GMM) are the most common approach.</a:t>
            </a:r>
          </a:p>
          <a:p>
            <a:r>
              <a:rPr lang="en-US"/>
              <a:t>• Uses the Expectation-Maximization (EM) algorithm to estimate parameters.</a:t>
            </a:r>
          </a:p>
          <a:p>
            <a:r>
              <a:rPr lang="en-US"/>
              <a:t>• Handles "soft clustering" where data points have a probability of belonging to multiple clusters.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713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AE09-8AF4-F2C6-C63E-20591A38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BIRCH (Balanced Iterative Reducing and Clustering using Hierarchies)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B3FDA-BB72-306C-58AA-EC6A4BD80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Designed for clustering very large datasets efficiently.</a:t>
            </a:r>
          </a:p>
          <a:p>
            <a:r>
              <a:rPr lang="en-US"/>
              <a:t>• Integrates hierarchical clustering with distance-based logic.</a:t>
            </a:r>
          </a:p>
          <a:p>
            <a:r>
              <a:rPr lang="en-US"/>
              <a:t>• Uses a Clustering Feature (CF) Tree to summarize data representations.</a:t>
            </a:r>
          </a:p>
          <a:p>
            <a:r>
              <a:rPr lang="en-US"/>
              <a:t>• Requires only a single scan of the database (highly scalable).</a:t>
            </a:r>
          </a:p>
          <a:p>
            <a:r>
              <a:rPr lang="en-US"/>
              <a:t>• Best suited for numeric data and spherical cluster shapes.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37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8199-DD55-E808-EFB5-B297E205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DBSCAN (Density-Based Spatial Clustering of Applications with Noise)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70E98-FC36-9782-1F79-C9B3A0161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Density-based clustering algorithm.</a:t>
            </a:r>
          </a:p>
          <a:p>
            <a:r>
              <a:rPr lang="en-US"/>
              <a:t>• Finds core samples of high density and expands clusters from them.</a:t>
            </a:r>
          </a:p>
          <a:p>
            <a:r>
              <a:rPr lang="en-US"/>
              <a:t>• Excellent at discovering clusters of arbitrary, non-spherical shapes.</a:t>
            </a:r>
          </a:p>
          <a:p>
            <a:r>
              <a:rPr lang="en-US"/>
              <a:t>• Robust to outliers (identifies them as noise).</a:t>
            </a:r>
          </a:p>
          <a:p>
            <a:r>
              <a:rPr lang="en-US"/>
              <a:t>• Key parameters: 'eps' (radius) and 'minPts' (minimum points in radius).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09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A100-DDE9-AFFE-2F6C-D14C5116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STING (Statistical Information Grid)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28331-F9CA-4F46-624D-23A44CF10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A grid-based multiresolution clustering technique.</a:t>
            </a:r>
          </a:p>
          <a:p>
            <a:r>
              <a:rPr lang="en-US"/>
              <a:t>• Divides spatial area into rectangular cells.</a:t>
            </a:r>
          </a:p>
          <a:p>
            <a:r>
              <a:rPr lang="en-US"/>
              <a:t>• Stores statistical parameters (mean, variance, min, max) for each cell.</a:t>
            </a:r>
          </a:p>
          <a:p>
            <a:r>
              <a:rPr lang="en-US"/>
              <a:t>• Hierarchical structure allows for fast query processing.</a:t>
            </a:r>
          </a:p>
          <a:p>
            <a:r>
              <a:rPr lang="en-US"/>
              <a:t>• Computation complexity is primarily dependent on the number of grid cells, not objects.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534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F533-8CFF-3D7A-AD6B-70D79370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CLIQUE (Clustering In QUEst)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05B09-62A7-2276-2B18-3DBC75586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Integrates density-based and grid-based clustering methods.</a:t>
            </a:r>
          </a:p>
          <a:p>
            <a:r>
              <a:rPr lang="en-US"/>
              <a:t>• Specifically designed for finding clusters in high-dimensional data (subspace clustering).</a:t>
            </a:r>
          </a:p>
          <a:p>
            <a:r>
              <a:rPr lang="en-US"/>
              <a:t>• Partitions each dimension into intervals and identifies dense units.</a:t>
            </a:r>
          </a:p>
          <a:p>
            <a:r>
              <a:rPr lang="en-US"/>
              <a:t>• Uses an Apriori-like property: If a multi-dimensional unit is dense, all its projections in lower dimensions must also be dense.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741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E668-042D-9749-CE35-38B16459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Evaluation of Clustering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E0A20-5AE1-BE5B-B76E-C3DB343F8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• Assessing cluster tendency (does non-random structure actually exist?).</a:t>
            </a:r>
          </a:p>
          <a:p>
            <a:r>
              <a:rPr lang="en-US"/>
              <a:t>• Extrinsic Methods (Supervised): Compare to ground truth (e.g., Purity, Rand Index, F-measure).</a:t>
            </a:r>
          </a:p>
          <a:p>
            <a:r>
              <a:rPr lang="en-US"/>
              <a:t>• Intrinsic Methods (Unsupervised): Evaluate based on data alone (e.g., Silhouette Coefficient).</a:t>
            </a:r>
          </a:p>
          <a:p>
            <a:r>
              <a:rPr lang="en-US"/>
              <a:t>• Key goals: High intra-cluster similarity (cohesion) and low inter-cluster similarity (separation).</a:t>
            </a:r>
          </a:p>
          <a:p>
            <a:r>
              <a:rPr lang="en-US"/>
              <a:t>• Robustness against noise, scalability, and ability to handle varying shapes.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90037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609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Cluster Analysis &amp; Advanced Techniques</vt:lpstr>
      <vt:lpstr>Partitioning Methods</vt:lpstr>
      <vt:lpstr>Hierarchical Methods</vt:lpstr>
      <vt:lpstr>Agglomerative vs. Divisive Clustering</vt:lpstr>
      <vt:lpstr>Probabilistic Model-Based Clustering</vt:lpstr>
      <vt:lpstr>BIRCH (Balanced Iterative Reducing and Clustering using Hierarchies)</vt:lpstr>
      <vt:lpstr>DBSCAN (Density-Based Spatial Clustering of Applications with Noise)</vt:lpstr>
      <vt:lpstr>STING (Statistical Information Grid)</vt:lpstr>
      <vt:lpstr>CLIQUE (Clustering In QUEst)</vt:lpstr>
      <vt:lpstr>Evaluation of Clustering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Devansh Gupta</dc:creator>
  <cp:lastModifiedBy>Devansh Gupta</cp:lastModifiedBy>
  <cp:revision>1</cp:revision>
  <dcterms:created xsi:type="dcterms:W3CDTF">2026-04-20T09:03:10Z</dcterms:created>
  <dcterms:modified xsi:type="dcterms:W3CDTF">2026-04-20T09:03:31Z</dcterms:modified>
</cp:coreProperties>
</file>