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28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7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49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4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22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7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3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06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2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74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1542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110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285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7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31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86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051A-D826-3373-00BF-9672DDC7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F138C-6EFE-1587-2D15-A8FD1BBC5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53E80-018D-2F2F-A4A5-48A44FE5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DFC23-0531-EFF5-8E58-D6169A78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2EA73-2DE7-EC9B-DC7E-FE8B5649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03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B081D-2C25-4233-B28F-DDEA4488D455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5D5932C-A30A-4BF7-9C5E-A94FD844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5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2EB4-6EC2-F58A-AAD8-59D41612F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Cluster Analysis: Advanced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6ECB4-601C-7B41-239B-3B8D2FDF7D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Partitioning, Hierarchical, Probabilistic, and Density/Grid Methods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1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AADA-2E7E-5FB1-AB80-847B9F60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Partitioning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0A9F3-A46B-A805-F8DB-9CC78CAAE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Definition: Constructs 'k' partitions of the data, where each partition represents a cluster.</a:t>
            </a:r>
          </a:p>
          <a:p>
            <a:r>
              <a:rPr lang="en-US"/>
              <a:t>• Requirement: Each group must contain at least one object, and each object must belong to exactly one group.</a:t>
            </a:r>
          </a:p>
          <a:p>
            <a:r>
              <a:rPr lang="en-US"/>
              <a:t>• Iterative Relocation: Objects are moved from one group to another to improve the partitioning.</a:t>
            </a:r>
          </a:p>
          <a:p>
            <a:r>
              <a:rPr lang="en-US"/>
              <a:t>• Popular Algorithms: k-Means, k-Medoids (PAM), CLARA.</a:t>
            </a:r>
          </a:p>
          <a:p>
            <a:r>
              <a:rPr lang="en-US"/>
              <a:t>• Best for: Finding mutually exclusive spherical clusters in small to medium datasets.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3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6207-9B70-40EB-4909-0691ACED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Hierarchical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412EA-5EE2-906C-DC05-FA35E834E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Definition: Builds a hierarchy of clusters by grouping data objects into a tree of clusters.</a:t>
            </a:r>
          </a:p>
          <a:p>
            <a:r>
              <a:rPr lang="en-US"/>
              <a:t>• Visual Representation: Uses a Dendrogram to show the sequence of merges or splits.</a:t>
            </a:r>
          </a:p>
          <a:p>
            <a:r>
              <a:rPr lang="en-US"/>
              <a:t>• Advantage: Does not require the number of clusters (k) to be specified in advance.</a:t>
            </a:r>
          </a:p>
          <a:p>
            <a:r>
              <a:rPr lang="en-US"/>
              <a:t>• Two Main Approaches:</a:t>
            </a:r>
          </a:p>
          <a:p>
            <a:r>
              <a:rPr lang="en-US"/>
              <a:t>    1. Agglomerative (Bottom-Up)</a:t>
            </a:r>
          </a:p>
          <a:p>
            <a:r>
              <a:rPr lang="en-US"/>
              <a:t>    2. Divisive (Top-Down)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0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A081-FC03-601F-CA7F-58821284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Agglomerative vs. Divisive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B52C1-0D34-C748-1E67-6D6932A51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Agglomerative (AGNES):</a:t>
            </a:r>
          </a:p>
          <a:p>
            <a:r>
              <a:rPr lang="en-US"/>
              <a:t>• Starts with each object as its own cluster.</a:t>
            </a:r>
          </a:p>
          <a:p>
            <a:r>
              <a:rPr lang="en-US"/>
              <a:t>• Iteratively merges the most similar clusters until all objects form one large cluster.</a:t>
            </a:r>
          </a:p>
          <a:p>
            <a:r>
              <a:rPr lang="en-US"/>
              <a:t>• More commonly used in practice.</a:t>
            </a:r>
          </a:p>
          <a:p>
            <a:endParaRPr lang="en-US"/>
          </a:p>
          <a:p>
            <a:r>
              <a:rPr lang="en-US"/>
              <a:t>Divisive (DIANA):</a:t>
            </a:r>
          </a:p>
          <a:p>
            <a:r>
              <a:rPr lang="en-US"/>
              <a:t>• Starts with all objects in a single continuous cluster.</a:t>
            </a:r>
          </a:p>
          <a:p>
            <a:r>
              <a:rPr lang="en-US"/>
              <a:t>• Iteratively splits the most heterogeneous clusters until each object is isolated.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1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51D4-720E-F2E5-54D0-E6ABB3F6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Probabilistic Model-Based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F3A18-3D1D-724E-32B1-54B6CD7A0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Concept: Assumes the data is generated by a mixture of underlying probability distributions.</a:t>
            </a:r>
          </a:p>
          <a:p>
            <a:r>
              <a:rPr lang="en-US"/>
              <a:t>• Mechanism: Optimizes the fit between the given data and a mathematical model.</a:t>
            </a:r>
          </a:p>
          <a:p>
            <a:r>
              <a:rPr lang="en-US"/>
              <a:t>• Gaussian Mixture Models (GMM): The most standard approach, assuming data points follow Gaussian distributions.</a:t>
            </a:r>
          </a:p>
          <a:p>
            <a:r>
              <a:rPr lang="en-US"/>
              <a:t>• Expectation-Maximization (EM): The algorithm used to find the maximum likelihood parameters.</a:t>
            </a:r>
          </a:p>
          <a:p>
            <a:r>
              <a:rPr lang="en-US"/>
              <a:t>• 'Soft' Clustering: Outputs the probability of each point belonging to a cluster, rather than a hard assignment.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86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5018-8A13-B640-F515-FE6D521E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BIRCH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DF8F0-7D8A-E700-9D2C-4CF1A865E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Stands for: Balanced Iterative Reducing and Clustering using Hierarchies.</a:t>
            </a:r>
          </a:p>
          <a:p>
            <a:r>
              <a:rPr lang="en-US"/>
              <a:t>• Use Case: Designed specifically for clustering exceptionally large datasets.</a:t>
            </a:r>
          </a:p>
          <a:p>
            <a:r>
              <a:rPr lang="en-US"/>
              <a:t>• CF Tree: Incrementally constructs a Clustering Feature (CF) tree dynamically as data is scanned.</a:t>
            </a:r>
          </a:p>
          <a:p>
            <a:r>
              <a:rPr lang="en-US"/>
              <a:t>• Efficiency: Typically requires only a single scan of the database.</a:t>
            </a:r>
          </a:p>
          <a:p>
            <a:r>
              <a:rPr lang="en-US"/>
              <a:t>• Limitation: Primarily handles numeric data and is sensitive to the order of data input.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790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3044-F97D-CCE0-65EE-FE5039C8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DBSCAN Technique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E0906-5766-6E05-9BBA-5E758AA94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Stands for: Density-Based Spatial Clustering of Applications with Noise.</a:t>
            </a:r>
          </a:p>
          <a:p>
            <a:r>
              <a:rPr lang="en-US"/>
              <a:t>• Concept: Groups together points that are closely packed together, marking low-density regions as outliers.</a:t>
            </a:r>
          </a:p>
          <a:p>
            <a:r>
              <a:rPr lang="en-US"/>
              <a:t>• Parameters: Requires 'Eps' (maximum radius) and 'MinPts' (minimum points within Eps).</a:t>
            </a:r>
          </a:p>
          <a:p>
            <a:r>
              <a:rPr lang="en-US"/>
              <a:t>• Strengths: Can discover clusters of arbitrary, non-linear shapes. Excellent at handling noise/outliers.</a:t>
            </a:r>
          </a:p>
          <a:p>
            <a:r>
              <a:rPr lang="en-US"/>
              <a:t>• Weakness: Struggles with clusters of varying densities.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44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B5CC-283B-40E6-FC62-0B70DD72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STING: Grid-Based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EE2C5-11F1-ABB0-1B31-4AA0D7981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Stands for: Statistical Information Grid.</a:t>
            </a:r>
          </a:p>
          <a:p>
            <a:r>
              <a:rPr lang="en-US"/>
              <a:t>• Concept: Divides the spatial area into rectangular cells (grid structure) at different levels of resolution.</a:t>
            </a:r>
          </a:p>
          <a:p>
            <a:r>
              <a:rPr lang="en-US"/>
              <a:t>• Pre-computation: Statistical parameters (mean, variance, min, max) are pre-calculated for each cell.</a:t>
            </a:r>
          </a:p>
          <a:p>
            <a:r>
              <a:rPr lang="en-US"/>
              <a:t>• Speed: Extremely fast query processing because it relies on the grid cells rather than the raw data objects.</a:t>
            </a:r>
          </a:p>
          <a:p>
            <a:r>
              <a:rPr lang="en-US"/>
              <a:t>• Complexity: O(K), where K is the number of grid cells, not the number of objects.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52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A022-F34F-2F5B-2A2B-87699784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CLIQUE Technique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070BD-5540-E260-8713-A50892CBB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Stands for: Clustering In QUEst.</a:t>
            </a:r>
          </a:p>
          <a:p>
            <a:r>
              <a:rPr lang="en-US"/>
              <a:t>• Hybrid Method: Integrates density-based and grid-based clustering.</a:t>
            </a:r>
          </a:p>
          <a:p>
            <a:r>
              <a:rPr lang="en-US"/>
              <a:t>• High Dimensionality: Specifically designed for 'Subspace Clustering'—finding clusters in high-dimensional data.</a:t>
            </a:r>
          </a:p>
          <a:p>
            <a:r>
              <a:rPr lang="en-US"/>
              <a:t>• Apriori Principle: Uses the property that if a multi-dimensional unit is dense, all its lower-dimensional projections must also be dense.</a:t>
            </a:r>
          </a:p>
          <a:p>
            <a:r>
              <a:rPr lang="en-US"/>
              <a:t>• Output: Automatically finds the subspaces of the highest dimensionality that contain dense units.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10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46E1-A4B4-665B-E819-87C80C17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Evaluation of Clustering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7AC9D-0B19-CC4C-5C51-F9A252BA7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• Goal: To assess the quality and validity of the clusters formed.</a:t>
            </a:r>
          </a:p>
          <a:p>
            <a:r>
              <a:rPr lang="en-US"/>
              <a:t>• Extrinsic Methods (Supervised): Compares the clustering against a known ground truth (e.g., Purity, Rand Index, F-Measure).</a:t>
            </a:r>
          </a:p>
          <a:p>
            <a:r>
              <a:rPr lang="en-US"/>
              <a:t>• Intrinsic Methods (Unsupervised): Evaluates the goodness of a clustering structure without external information (e.g., Silhouette Coefficient).</a:t>
            </a:r>
          </a:p>
          <a:p>
            <a:r>
              <a:rPr lang="en-US"/>
              <a:t>• Cohesion vs. Separation: Good clustering maximizes intra-cluster similarity (cohesion) and minimizes inter-cluster similarity (separation).</a:t>
            </a:r>
          </a:p>
          <a:p>
            <a:r>
              <a:rPr lang="en-US"/>
              <a:t>• Cluster Tendency: Testing whether the data actually has non-random structure before clustering.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0498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765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Cluster Analysis: Advanced Techniques</vt:lpstr>
      <vt:lpstr>Partitioning Methods</vt:lpstr>
      <vt:lpstr>Hierarchical Methods</vt:lpstr>
      <vt:lpstr>Agglomerative vs. Divisive Clustering</vt:lpstr>
      <vt:lpstr>Probabilistic Model-Based Clustering</vt:lpstr>
      <vt:lpstr>BIRCH Clustering</vt:lpstr>
      <vt:lpstr>DBSCAN Technique</vt:lpstr>
      <vt:lpstr>STING: Grid-Based Clustering</vt:lpstr>
      <vt:lpstr>CLIQUE Technique</vt:lpstr>
      <vt:lpstr>Evaluation of Clustering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Gupta</dc:creator>
  <cp:lastModifiedBy>Devansh Gupta</cp:lastModifiedBy>
  <cp:revision>1</cp:revision>
  <dcterms:created xsi:type="dcterms:W3CDTF">2026-04-20T09:05:34Z</dcterms:created>
  <dcterms:modified xsi:type="dcterms:W3CDTF">2026-04-20T09:05:42Z</dcterms:modified>
</cp:coreProperties>
</file>