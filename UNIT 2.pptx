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671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219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70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13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8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025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54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668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356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962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5857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794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7730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330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920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88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8D90B-AEFB-E117-091E-468E97B36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CBB6F-ECA2-78D7-A5A5-5217F977F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15E2C-73ED-A671-4D2C-FBCE4060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7EDEE-0341-E0EB-2DC9-8B92801D0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E9230-F420-EF81-5BB2-CC29B900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13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3C21D-3B2B-4991-81D2-29AF780211B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9C7873F-C746-48DE-BE34-2766FAF44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871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BBD5-AC93-39B0-7CE2-009E31EB2F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Association Rule Mining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90314-13D0-41C0-D8A2-7AA5389FA0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Market Basket Analysis, Apriori, FP-Growth, and Advanced Mining Techniques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38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0233-0523-8580-8161-2DC346ECF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Market Basket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ABB8D-F47B-0E5F-8C1F-74D83ED5A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Concept: Analyzing customer buying habits by finding associations between different items in their 'shopping baskets'.</a:t>
            </a:r>
          </a:p>
          <a:p>
            <a:r>
              <a:rPr lang="en-US"/>
              <a:t>• Goal: Discover 'If-Then' rules (e.g., If a customer buys milk and bread, they are likely to buy butter).</a:t>
            </a:r>
          </a:p>
          <a:p>
            <a:r>
              <a:rPr lang="en-US"/>
              <a:t>• Key Metrics:</a:t>
            </a:r>
          </a:p>
          <a:p>
            <a:r>
              <a:rPr lang="en-US"/>
              <a:t>    1. Support: How frequently the itemset appears in the database.</a:t>
            </a:r>
          </a:p>
          <a:p>
            <a:r>
              <a:rPr lang="en-US"/>
              <a:t>    2. Confidence: How often the rule has been found to be true.</a:t>
            </a:r>
          </a:p>
          <a:p>
            <a:r>
              <a:rPr lang="en-US"/>
              <a:t>• Use Cases: Cross-selling, store layout optimization, targeted marketing campaigns.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025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9722-784A-1D4A-420D-230F83056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Apriori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BCB59-33D5-A6D2-6138-4D1A87B35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• Pioneer Algorithm: The foundational algorithm for mining frequent itemsets.</a:t>
            </a:r>
          </a:p>
          <a:p>
            <a:r>
              <a:rPr lang="en-US"/>
              <a:t>• The Apriori Property: Any subset of a frequent itemset must also be frequent. (Anti-monotonicity)</a:t>
            </a:r>
          </a:p>
          <a:p>
            <a:r>
              <a:rPr lang="en-US"/>
              <a:t>• Iterative Process (Level-wise search):</a:t>
            </a:r>
          </a:p>
          <a:p>
            <a:r>
              <a:rPr lang="en-US"/>
              <a:t>    - Finds frequent 1-itemsets.</a:t>
            </a:r>
          </a:p>
          <a:p>
            <a:r>
              <a:rPr lang="en-US"/>
              <a:t>    - Uses those to generate candidate 2-itemsets, and tests them.</a:t>
            </a:r>
          </a:p>
          <a:p>
            <a:r>
              <a:rPr lang="en-US"/>
              <a:t>    - Continues to k-itemsets until no more frequent itemsets are found.</a:t>
            </a:r>
          </a:p>
          <a:p>
            <a:r>
              <a:rPr lang="en-US"/>
              <a:t>• Candidate Generation: Heavily relies on generating combinations and scanning the database to count supports.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085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C23D-46CD-AD85-0115-131E328F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of the Apriori Algorithm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508AF-D484-4F9B-5337-FBDBB03EE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Huge Candidate Sets: Generating candidate itemsets can be incredibly memory-intensive (e.g., finding a frequent 100-itemset requires generating 2^100 candidates).</a:t>
            </a:r>
          </a:p>
          <a:p>
            <a:r>
              <a:rPr lang="en-US"/>
              <a:t>• Multiple Database Scans: Requires scanning the entire database at each level (for every k), which is highly inefficient for large datasets.</a:t>
            </a:r>
          </a:p>
          <a:p>
            <a:r>
              <a:rPr lang="en-US"/>
              <a:t>• I/O Bottleneck: Disk reads become the primary limiting factor in performance.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50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77849-AFF2-36A8-AF65-1F3977AE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FP-Growth: No Candidate Generation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6A787-9F10-2E97-1981-8319BE0F9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• FP-Growth (Frequent Pattern Growth): A highly efficient alternative to Apriori.</a:t>
            </a:r>
          </a:p>
          <a:p>
            <a:r>
              <a:rPr lang="en-US"/>
              <a:t>• Core Concept: Discovers frequent itemsets without generating massive candidate sets.</a:t>
            </a:r>
          </a:p>
          <a:p>
            <a:r>
              <a:rPr lang="en-US"/>
              <a:t>• FP-Tree Construction:</a:t>
            </a:r>
          </a:p>
          <a:p>
            <a:r>
              <a:rPr lang="en-US"/>
              <a:t>    - Compresses the database into a compact tree structure (Frequent Pattern Tree).</a:t>
            </a:r>
          </a:p>
          <a:p>
            <a:r>
              <a:rPr lang="en-US"/>
              <a:t>    - Retains itemset association information but removes unneeded data.</a:t>
            </a:r>
          </a:p>
          <a:p>
            <a:r>
              <a:rPr lang="en-US"/>
              <a:t>• Mining the Tree: Uses a recursive divide-and-conquer strategy to mine the FP-tree directly.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29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066D2-A653-54E8-5EBB-0FA6B3012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FP-Growth vs. Apriori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F2CE0-B7D3-8102-B12A-E7FE74B41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FP-Growth Advantages:</a:t>
            </a:r>
          </a:p>
          <a:p>
            <a:r>
              <a:rPr lang="en-US"/>
              <a:t>• Faster: Often orders of magnitude faster than Apriori.</a:t>
            </a:r>
          </a:p>
          <a:p>
            <a:r>
              <a:rPr lang="en-US"/>
              <a:t>• Scans: Only requires exactly two scans of the original database.</a:t>
            </a:r>
          </a:p>
          <a:p>
            <a:r>
              <a:rPr lang="en-US"/>
              <a:t>• Memory Efficient: Avoids the combinatorial explosion of candidate generation.</a:t>
            </a:r>
          </a:p>
          <a:p>
            <a:endParaRPr lang="en-US"/>
          </a:p>
          <a:p>
            <a:r>
              <a:rPr lang="en-US"/>
              <a:t>Trade-offs:</a:t>
            </a:r>
          </a:p>
          <a:p>
            <a:r>
              <a:rPr lang="en-US"/>
              <a:t>• The FP-Tree might not fit into main memory for massive, highly sparse datasets.</a:t>
            </a:r>
          </a:p>
          <a:p>
            <a:r>
              <a:rPr lang="en-US"/>
              <a:t>• Tree construction can be computationally expensive upfront.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79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35B8-BBBF-9E6A-AA0B-B7093B38A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Correlation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0D55F-A854-13B6-6559-7BD405F0F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• The Problem: Support and Confidence alone can be misleading. A rule might have high confidence but the items are actually negatively correlated.</a:t>
            </a:r>
          </a:p>
          <a:p>
            <a:r>
              <a:rPr lang="en-US"/>
              <a:t>• Solution: Introduce correlation measures to augment standard association rules.</a:t>
            </a:r>
          </a:p>
          <a:p>
            <a:r>
              <a:rPr lang="en-US"/>
              <a:t>• Lift (Correlation): Measures how many times more often X and Y occur together than expected if they were statistically independent.</a:t>
            </a:r>
          </a:p>
          <a:p>
            <a:r>
              <a:rPr lang="en-US"/>
              <a:t>    - Lift &gt; 1: Positive correlation.</a:t>
            </a:r>
          </a:p>
          <a:p>
            <a:r>
              <a:rPr lang="en-US"/>
              <a:t>    - Lift = 1: Independent.</a:t>
            </a:r>
          </a:p>
          <a:p>
            <a:r>
              <a:rPr lang="en-US"/>
              <a:t>    - Lift &lt; 1: Negative correlation (substitutes).</a:t>
            </a:r>
          </a:p>
          <a:p>
            <a:r>
              <a:rPr lang="en-US"/>
              <a:t>• Chi-Square Test: Another statistical measure to determine independence between items.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689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8999-36C0-8701-710C-D0AC4E0F3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Constraint-Based Association Mining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F5CCB-5112-86A4-7387-7A5336250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• Concept: Allowing the user to guide the mining process by applying constraints (Interactive Mining).</a:t>
            </a:r>
          </a:p>
          <a:p>
            <a:r>
              <a:rPr lang="en-US"/>
              <a:t>• Why? Reduces the vast number of uninteresting rules generated and speeds up computation.</a:t>
            </a:r>
          </a:p>
          <a:p>
            <a:r>
              <a:rPr lang="en-US"/>
              <a:t>• Types of Constraints:</a:t>
            </a:r>
          </a:p>
          <a:p>
            <a:r>
              <a:rPr lang="en-US"/>
              <a:t>    1. Knowledge type: Specifying what rules to mine (e.g., classification, association).</a:t>
            </a:r>
          </a:p>
          <a:p>
            <a:r>
              <a:rPr lang="en-US"/>
              <a:t>    2. Data constraints: Specifying the set of task-relevant data.</a:t>
            </a:r>
          </a:p>
          <a:p>
            <a:r>
              <a:rPr lang="en-US"/>
              <a:t>    3. Dimension/Level constraints: Restricting to certain dimensions (e.g., time, location) or concept levels.</a:t>
            </a:r>
          </a:p>
          <a:p>
            <a:r>
              <a:rPr lang="en-US"/>
              <a:t>    4. Rule constraints: Specifying the form of the rules (e.g., must contain a specific item, or total price &gt; $50).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424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239B9-7995-67D8-78BF-EAFB0502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3FE4D-365F-51B8-A6CF-F4E1E3791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• Association Mining discovers hidden patterns in large transactional datasets.</a:t>
            </a:r>
          </a:p>
          <a:p>
            <a:r>
              <a:rPr lang="en-US"/>
              <a:t>• Apriori is foundational but struggles with candidate generation bottlenecks.</a:t>
            </a:r>
          </a:p>
          <a:p>
            <a:r>
              <a:rPr lang="en-US"/>
              <a:t>• FP-Growth solves the candidate bottleneck using an elegant tree structure.</a:t>
            </a:r>
          </a:p>
          <a:p>
            <a:r>
              <a:rPr lang="en-US"/>
              <a:t>• Correlation Analysis (like Lift) ensures the rules we find are statistically meaningful.</a:t>
            </a:r>
          </a:p>
          <a:p>
            <a:r>
              <a:rPr lang="en-US"/>
              <a:t>• Constraint-Based Mining focuses the algorithm on user-specified, actionable insights.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9665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720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Association Rule Mining</vt:lpstr>
      <vt:lpstr>Market Basket Analysis</vt:lpstr>
      <vt:lpstr>The Apriori Algorithm</vt:lpstr>
      <vt:lpstr>Challenges of the Apriori Algorithm</vt:lpstr>
      <vt:lpstr>FP-Growth: No Candidate Generation</vt:lpstr>
      <vt:lpstr>FP-Growth vs. Apriori</vt:lpstr>
      <vt:lpstr>Correlation Analysis</vt:lpstr>
      <vt:lpstr>Constraint-Based Association Mining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Devansh Gupta</dc:creator>
  <cp:lastModifiedBy>Devansh Gupta</cp:lastModifiedBy>
  <cp:revision>1</cp:revision>
  <dcterms:created xsi:type="dcterms:W3CDTF">2026-04-20T09:10:58Z</dcterms:created>
  <dcterms:modified xsi:type="dcterms:W3CDTF">2026-04-20T09:11:14Z</dcterms:modified>
</cp:coreProperties>
</file>