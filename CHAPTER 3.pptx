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6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96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10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1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3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0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1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1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4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6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4018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190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7197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44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6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07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9F6E-9A02-E65C-F6B7-8DB03E9A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0D0A5-10F8-AAA8-7F4C-88466BB4D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1080-377D-BD00-EE3B-B9596C9D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6F7E-A521-7F04-4DF8-8526348A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C417A-A93E-B879-82A2-8DB67421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22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3446A-B01A-4E3F-BC80-1034E68E7DFA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FA3065-3DE2-46D3-828C-C7B2D308EC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698A-84D8-8D7C-A55E-950ED2555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Classification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379EB-24FF-8276-E55D-D1E2DBB73F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Decision Tree Induction &amp; Bayesian Classification Methods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08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6BDD-8436-49A4-B762-3F8DC47B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Basic Concepts of 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225E1-8C1F-7BB9-4DA3-6F11AA3C0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Supervised Learning: The training data is accompanied by labels indicating the class of the observations.</a:t>
            </a:r>
          </a:p>
          <a:p>
            <a:r>
              <a:rPr lang="en-US"/>
              <a:t>• Two-Step Process:</a:t>
            </a:r>
          </a:p>
          <a:p>
            <a:r>
              <a:rPr lang="en-US"/>
              <a:t>    1. Learning Step (Training Phase): A classification model is built based on training data.</a:t>
            </a:r>
          </a:p>
          <a:p>
            <a:r>
              <a:rPr lang="en-US"/>
              <a:t>    2. Classification Step (Testing Phase): The model is used to predict class labels for given data.</a:t>
            </a:r>
          </a:p>
          <a:p>
            <a:r>
              <a:rPr lang="en-US"/>
              <a:t>• Goal: Accurately predict the target class for each case in the data.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0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C5C3-0914-BAF0-A836-27790404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Decision Tree Induction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71571-378B-B692-94FB-D8D3CD784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Structure: A flowchart-like tree structure.</a:t>
            </a:r>
          </a:p>
          <a:p>
            <a:r>
              <a:rPr lang="en-US"/>
              <a:t>• Internal Node: Denotes a test on an attribute.</a:t>
            </a:r>
          </a:p>
          <a:p>
            <a:r>
              <a:rPr lang="en-US"/>
              <a:t>• Branch: Represents an outcome of the test.</a:t>
            </a:r>
          </a:p>
          <a:p>
            <a:r>
              <a:rPr lang="en-US"/>
              <a:t>• Leaf Node: Represents a class label or class distribution.</a:t>
            </a:r>
          </a:p>
          <a:p>
            <a:r>
              <a:rPr lang="en-US"/>
              <a:t>• Top-Down Approach: Trees are built recursively using a greedy, top-down divide-and-conquer strategy.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51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2C8E-FCDF-D213-8B1F-17CADB147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Attribute Selection 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6D1B8-D1B9-EF89-D3B7-447C40EEB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Purpose: To select the attribute that best partitions the data into distinct classes.</a:t>
            </a:r>
          </a:p>
          <a:p>
            <a:r>
              <a:rPr lang="en-US"/>
              <a:t>• Information Gain: Measures the expected reduction in entropy (uncertainty). Biased towards attributes with many values.</a:t>
            </a:r>
          </a:p>
          <a:p>
            <a:r>
              <a:rPr lang="en-US"/>
              <a:t>• Gain Ratio: An extension of Information Gain that overcomes its bias using split information.</a:t>
            </a:r>
          </a:p>
          <a:p>
            <a:r>
              <a:rPr lang="en-US"/>
              <a:t>• Gini Index: Measures the impurity of a dataset. Looks for the largest reduction in impurity (used in CART).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091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832F-9F01-81B6-E86D-89989A45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ID3 Algorithm (Iterative Dichotomiser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C6534-0050-AADC-833C-87FE85EE6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Developed by J. Ross Quinlan.</a:t>
            </a:r>
          </a:p>
          <a:p>
            <a:r>
              <a:rPr lang="en-US"/>
              <a:t>• Splitting Criterion: Uses Information Gain as its attribute selection measure.</a:t>
            </a:r>
          </a:p>
          <a:p>
            <a:r>
              <a:rPr lang="en-US"/>
              <a:t>• Branching: Creates multi-way branches for each distinct value of the chosen attribute.</a:t>
            </a:r>
          </a:p>
          <a:p>
            <a:r>
              <a:rPr lang="en-US"/>
              <a:t>• Limitations: Only works with categorical (nominal) attributes; numeric values must be discretized beforehand. Prone to overfitting.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05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9639-A0F2-3D95-1BAE-185D02A7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CART Algorithm (Classification and Regression Trees)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F716C-5761-F71B-4310-95968A1D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Versatility: Can construct both classification and regression trees.</a:t>
            </a:r>
          </a:p>
          <a:p>
            <a:r>
              <a:rPr lang="en-US"/>
              <a:t>• Splitting Criterion: Uses the Gini Index to select the splitting attribute.</a:t>
            </a:r>
          </a:p>
          <a:p>
            <a:r>
              <a:rPr lang="en-US"/>
              <a:t>• Branching: Strictly creates binary splits (each node has exactly two branches).</a:t>
            </a:r>
          </a:p>
          <a:p>
            <a:r>
              <a:rPr lang="en-US"/>
              <a:t>• Data Types: Capable of handling both continuous and categorical data natively.</a:t>
            </a:r>
          </a:p>
          <a:p>
            <a:r>
              <a:rPr lang="en-US"/>
              <a:t>• Outliers: Highly robust to outliers in the input variables.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BA50-81ED-0C64-073D-4B8C78CC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Tree Pruning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FCED5-430E-C6F9-0D5D-966A8DFCF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Problem: Overfitting occurs when a tree is too deep and models the noise in the training data.</a:t>
            </a:r>
          </a:p>
          <a:p>
            <a:r>
              <a:rPr lang="en-US"/>
              <a:t>• Pre-pruning (Early Stopping): Halts tree construction early (e.g., if a node reaches a minimum number of samples).</a:t>
            </a:r>
          </a:p>
          <a:p>
            <a:r>
              <a:rPr lang="en-US"/>
              <a:t>• Post-pruning: Allows the tree to grow fully, then prunes branches that do not improve predictive accuracy on validation data.</a:t>
            </a:r>
          </a:p>
          <a:p>
            <a:r>
              <a:rPr lang="en-US"/>
              <a:t>• Benefit: Results in a smaller, simpler tree that generalizes better to unseen data.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45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DF62-E68B-0C52-CF09-21429713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Bayes Classification &amp; Bayes'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DFC78-25E3-58B8-07F2-87E963ABF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Foundation: Statistical classifiers based on Bayes' Theorem.</a:t>
            </a:r>
          </a:p>
          <a:p>
            <a:r>
              <a:rPr lang="en-IN"/>
              <a:t>• Bayes' Theorem Formula: P(H|X) = [ P(X|H) * P(H) ] / P(X)</a:t>
            </a:r>
          </a:p>
          <a:p>
            <a:r>
              <a:rPr lang="en-IN"/>
              <a:t>    • P(H|X): Posterior Probability (Probability of hypothesis H given data X)</a:t>
            </a:r>
          </a:p>
          <a:p>
            <a:r>
              <a:rPr lang="en-IN"/>
              <a:t>    • P(H): Prior Probability (Initial probability of H)</a:t>
            </a:r>
          </a:p>
          <a:p>
            <a:r>
              <a:rPr lang="en-IN"/>
              <a:t>    • P(X|H): Likelihood (Probability of observing X given H is true)</a:t>
            </a:r>
          </a:p>
          <a:p>
            <a:r>
              <a:rPr lang="en-IN"/>
              <a:t>    • P(X): Evidence (Probability of the data)</a:t>
            </a:r>
          </a:p>
        </p:txBody>
      </p:sp>
    </p:spTree>
    <p:extLst>
      <p:ext uri="{BB962C8B-B14F-4D97-AF65-F5344CB8AC3E}">
        <p14:creationId xmlns:p14="http://schemas.microsoft.com/office/powerpoint/2010/main" val="247010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0D87-DA21-A472-D178-119F38B2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Naive Bayesian 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B6766-C31F-6EFF-B770-DAB01E7D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The 'Naive' Assumption: Assumes class conditional independence (attributes are independent of each other given the class label).</a:t>
            </a:r>
          </a:p>
          <a:p>
            <a:r>
              <a:rPr lang="en-US"/>
              <a:t>• Advantage: Greatly simplifies computation, requiring only a single scan of the training data.</a:t>
            </a:r>
          </a:p>
          <a:p>
            <a:r>
              <a:rPr lang="en-US"/>
              <a:t>• Performance: Despite the unrealistic independence assumption, it is highly accurate and extremely fast.</a:t>
            </a:r>
          </a:p>
          <a:p>
            <a:r>
              <a:rPr lang="en-US"/>
              <a:t>• Use Cases: Excellent for document classification, spam filtering, and medical diagnosis.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7303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644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Classification Techniques</vt:lpstr>
      <vt:lpstr>Basic Concepts of Classification</vt:lpstr>
      <vt:lpstr>Decision Tree Induction</vt:lpstr>
      <vt:lpstr>Attribute Selection Measures</vt:lpstr>
      <vt:lpstr>ID3 Algorithm (Iterative Dichotomiser 3)</vt:lpstr>
      <vt:lpstr>CART Algorithm (Classification and Regression Trees)</vt:lpstr>
      <vt:lpstr>Tree Pruning</vt:lpstr>
      <vt:lpstr>Bayes Classification &amp; Bayes' Theorem</vt:lpstr>
      <vt:lpstr>Naive Bayesian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Gupta</dc:creator>
  <cp:lastModifiedBy>Devansh Gupta</cp:lastModifiedBy>
  <cp:revision>1</cp:revision>
  <dcterms:created xsi:type="dcterms:W3CDTF">2026-04-20T09:07:29Z</dcterms:created>
  <dcterms:modified xsi:type="dcterms:W3CDTF">2026-04-20T09:07:43Z</dcterms:modified>
</cp:coreProperties>
</file>